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85C8"/>
    <a:srgbClr val="C8FF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299031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304306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194906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793DCE1-8EE0-4756-AFE9-BFEECC4EF320}" type="datetimeFigureOut">
              <a:rPr lang="es-CO" smtClean="0"/>
              <a:t>13/04/2026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4278071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793DCE1-8EE0-4756-AFE9-BFEECC4EF320}" type="datetimeFigureOut">
              <a:rPr lang="es-CO" smtClean="0"/>
              <a:t>13/04/2026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934740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793DCE1-8EE0-4756-AFE9-BFEECC4EF320}" type="datetimeFigureOut">
              <a:rPr lang="es-CO" smtClean="0"/>
              <a:t>13/04/2026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935959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93DCE1-8EE0-4756-AFE9-BFEECC4EF320}" type="datetimeFigureOut">
              <a:rPr lang="es-CO" smtClean="0"/>
              <a:t>13/04/2026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964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793DCE1-8EE0-4756-AFE9-BFEECC4EF320}" type="datetimeFigureOut">
              <a:rPr lang="es-CO" smtClean="0"/>
              <a:t>13/04/2026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491316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793DCE1-8EE0-4756-AFE9-BFEECC4EF320}" type="datetimeFigureOut">
              <a:rPr lang="es-CO" smtClean="0"/>
              <a:t>13/04/2026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954488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92714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7638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599343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45196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3427882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1865598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793DCE1-8EE0-4756-AFE9-BFEECC4EF320}" type="datetimeFigureOut">
              <a:rPr lang="es-CO" smtClean="0"/>
              <a:t>13/04/2026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563AC2A5-5C3E-4220-BB99-01E3C4CB1A8D}" type="slidenum">
              <a:rPr lang="es-CO" smtClean="0"/>
              <a:t>‹Nº›</a:t>
            </a:fld>
            <a:endParaRPr lang="es-CO"/>
          </a:p>
        </p:txBody>
      </p:sp>
    </p:spTree>
    <p:extLst>
      <p:ext uri="{BB962C8B-B14F-4D97-AF65-F5344CB8AC3E}">
        <p14:creationId xmlns:p14="http://schemas.microsoft.com/office/powerpoint/2010/main" val="2730312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93DCE1-8EE0-4756-AFE9-BFEECC4EF320}" type="datetimeFigureOut">
              <a:rPr lang="es-CO" smtClean="0"/>
              <a:t>13/04/2026</a:t>
            </a:fld>
            <a:endParaRPr lang="es-CO"/>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3AC2A5-5C3E-4220-BB99-01E3C4CB1A8D}" type="slidenum">
              <a:rPr lang="es-CO" smtClean="0"/>
              <a:t>‹Nº›</a:t>
            </a:fld>
            <a:endParaRPr lang="es-CO"/>
          </a:p>
        </p:txBody>
      </p:sp>
    </p:spTree>
    <p:extLst>
      <p:ext uri="{BB962C8B-B14F-4D97-AF65-F5344CB8AC3E}">
        <p14:creationId xmlns:p14="http://schemas.microsoft.com/office/powerpoint/2010/main" val="858016101"/>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300252" y="211200"/>
            <a:ext cx="11709777" cy="1027017"/>
            <a:chOff x="300252" y="211200"/>
            <a:chExt cx="11709777" cy="1027017"/>
          </a:xfrm>
        </p:grpSpPr>
        <p:sp>
          <p:nvSpPr>
            <p:cNvPr id="8" name="CuadroTexto 7"/>
            <p:cNvSpPr txBox="1"/>
            <p:nvPr/>
          </p:nvSpPr>
          <p:spPr>
            <a:xfrm>
              <a:off x="300252" y="211200"/>
              <a:ext cx="4940648" cy="523220"/>
            </a:xfrm>
            <a:prstGeom prst="rect">
              <a:avLst/>
            </a:prstGeom>
            <a:noFill/>
          </p:spPr>
          <p:txBody>
            <a:bodyPr wrap="none" rtlCol="0">
              <a:spAutoFit/>
            </a:bodyPr>
            <a:lstStyle/>
            <a:p>
              <a:r>
                <a:rPr lang="es-MX" sz="2800" dirty="0"/>
                <a:t>Análisis y Desarrollo </a:t>
              </a:r>
              <a:r>
                <a:rPr lang="es-MX" sz="2800" dirty="0">
                  <a:solidFill>
                    <a:schemeClr val="accent6"/>
                  </a:solidFill>
                </a:rPr>
                <a:t>de Software</a:t>
              </a:r>
              <a:endParaRPr lang="es-CO" sz="2800" dirty="0">
                <a:solidFill>
                  <a:schemeClr val="accent6"/>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5213605" y="3185663"/>
            <a:ext cx="6628264" cy="646331"/>
          </a:xfrm>
          <a:prstGeom prst="rect">
            <a:avLst/>
          </a:prstGeom>
        </p:spPr>
        <p:txBody>
          <a:bodyPr wrap="square">
            <a:spAutoFit/>
          </a:bodyPr>
          <a:lstStyle/>
          <a:p>
            <a:r>
              <a:rPr lang="es-MX" sz="3600" dirty="0"/>
              <a:t>HAPPY KIDS </a:t>
            </a:r>
            <a:endParaRPr lang="es-CO" sz="3600" dirty="0"/>
          </a:p>
        </p:txBody>
      </p:sp>
      <p:cxnSp>
        <p:nvCxnSpPr>
          <p:cNvPr id="17" name="Conector recto 16"/>
          <p:cNvCxnSpPr/>
          <p:nvPr/>
        </p:nvCxnSpPr>
        <p:spPr>
          <a:xfrm>
            <a:off x="5268036" y="4224475"/>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773724" y="1800667"/>
            <a:ext cx="3854548" cy="3516919"/>
          </a:xfrm>
          <a:prstGeom prst="rect">
            <a:avLst/>
          </a:prstGeom>
        </p:spPr>
      </p:pic>
    </p:spTree>
    <p:extLst>
      <p:ext uri="{BB962C8B-B14F-4D97-AF65-F5344CB8AC3E}">
        <p14:creationId xmlns:p14="http://schemas.microsoft.com/office/powerpoint/2010/main" val="62915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757451" y="211200"/>
            <a:ext cx="11252578" cy="1375065"/>
            <a:chOff x="757451" y="211200"/>
            <a:chExt cx="11252578" cy="1375065"/>
          </a:xfrm>
        </p:grpSpPr>
        <p:sp>
          <p:nvSpPr>
            <p:cNvPr id="8" name="CuadroTexto 7"/>
            <p:cNvSpPr txBox="1"/>
            <p:nvPr/>
          </p:nvSpPr>
          <p:spPr>
            <a:xfrm>
              <a:off x="757451" y="262826"/>
              <a:ext cx="6086261" cy="1323439"/>
            </a:xfrm>
            <a:prstGeom prst="rect">
              <a:avLst/>
            </a:prstGeom>
            <a:noFill/>
          </p:spPr>
          <p:txBody>
            <a:bodyPr wrap="square" rtlCol="0">
              <a:spAutoFit/>
            </a:bodyPr>
            <a:lstStyle/>
            <a:p>
              <a:r>
                <a:rPr lang="es-MX" sz="4000" dirty="0">
                  <a:solidFill>
                    <a:schemeClr val="bg2">
                      <a:lumMod val="50000"/>
                    </a:schemeClr>
                  </a:solidFill>
                  <a:effectLst>
                    <a:outerShdw blurRad="38100" dist="38100" dir="2700000" algn="tl">
                      <a:srgbClr val="000000">
                        <a:alpha val="43137"/>
                      </a:srgbClr>
                    </a:outerShdw>
                  </a:effectLst>
                </a:rPr>
                <a:t>Análisis y Desarrollo de Software</a:t>
              </a:r>
              <a:endParaRPr lang="es-CO" sz="4000" dirty="0">
                <a:solidFill>
                  <a:schemeClr val="bg2">
                    <a:lumMod val="50000"/>
                  </a:schemeClr>
                </a:solidFill>
                <a:effectLst>
                  <a:outerShdw blurRad="38100" dist="38100" dir="2700000" algn="tl">
                    <a:srgbClr val="000000">
                      <a:alpha val="43137"/>
                    </a:srgbClr>
                  </a:outerShdw>
                </a:effectLst>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5213605" y="3185663"/>
            <a:ext cx="6628264" cy="523220"/>
          </a:xfrm>
          <a:prstGeom prst="rect">
            <a:avLst/>
          </a:prstGeom>
        </p:spPr>
        <p:txBody>
          <a:bodyPr wrap="square">
            <a:spAutoFit/>
          </a:bodyPr>
          <a:lstStyle/>
          <a:p>
            <a:r>
              <a:rPr lang="es-MX" sz="2800" dirty="0"/>
              <a:t>Integrantes:</a:t>
            </a:r>
            <a:endParaRPr lang="es-CO" sz="2800" dirty="0"/>
          </a:p>
        </p:txBody>
      </p:sp>
      <p:cxnSp>
        <p:nvCxnSpPr>
          <p:cNvPr id="17" name="Conector recto 16"/>
          <p:cNvCxnSpPr/>
          <p:nvPr/>
        </p:nvCxnSpPr>
        <p:spPr>
          <a:xfrm>
            <a:off x="5240900" y="5848558"/>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3" name="Imagen 2"/>
          <p:cNvPicPr>
            <a:picLocks noChangeAspect="1"/>
          </p:cNvPicPr>
          <p:nvPr/>
        </p:nvPicPr>
        <p:blipFill>
          <a:blip r:embed="rId3"/>
          <a:stretch>
            <a:fillRect/>
          </a:stretch>
        </p:blipFill>
        <p:spPr>
          <a:xfrm>
            <a:off x="887673" y="1994383"/>
            <a:ext cx="3429000" cy="3429000"/>
          </a:xfrm>
          <a:prstGeom prst="rect">
            <a:avLst/>
          </a:prstGeom>
        </p:spPr>
      </p:pic>
      <p:sp>
        <p:nvSpPr>
          <p:cNvPr id="12" name="Rectángulo 11"/>
          <p:cNvSpPr/>
          <p:nvPr/>
        </p:nvSpPr>
        <p:spPr>
          <a:xfrm>
            <a:off x="4895557" y="3708883"/>
            <a:ext cx="5430129" cy="1569660"/>
          </a:xfrm>
          <a:prstGeom prst="rect">
            <a:avLst/>
          </a:prstGeom>
        </p:spPr>
        <p:txBody>
          <a:bodyPr wrap="square">
            <a:spAutoFit/>
          </a:bodyPr>
          <a:lstStyle/>
          <a:p>
            <a:pPr marL="457200" indent="-457200">
              <a:buFont typeface="Arial" panose="020B0604020202020204" pitchFamily="34" charset="0"/>
              <a:buChar char="•"/>
            </a:pPr>
            <a:r>
              <a:rPr lang="es-MX" sz="3200" dirty="0" err="1"/>
              <a:t>Karol</a:t>
            </a:r>
            <a:r>
              <a:rPr lang="es-MX" sz="3200" dirty="0"/>
              <a:t> Tatiana Santa Suarez </a:t>
            </a:r>
          </a:p>
          <a:p>
            <a:pPr marL="457200" indent="-457200">
              <a:buFont typeface="Arial" panose="020B0604020202020204" pitchFamily="34" charset="0"/>
              <a:buChar char="•"/>
            </a:pPr>
            <a:r>
              <a:rPr lang="es-MX" sz="3200" dirty="0"/>
              <a:t> Emy Caroline Toro Areiza </a:t>
            </a:r>
          </a:p>
        </p:txBody>
      </p:sp>
    </p:spTree>
    <p:extLst>
      <p:ext uri="{BB962C8B-B14F-4D97-AF65-F5344CB8AC3E}">
        <p14:creationId xmlns:p14="http://schemas.microsoft.com/office/powerpoint/2010/main" val="3694620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888705" y="209745"/>
            <a:ext cx="11121324" cy="1323439"/>
            <a:chOff x="888705" y="209745"/>
            <a:chExt cx="11121324" cy="1323439"/>
          </a:xfrm>
        </p:grpSpPr>
        <p:sp>
          <p:nvSpPr>
            <p:cNvPr id="8" name="CuadroTexto 7"/>
            <p:cNvSpPr txBox="1"/>
            <p:nvPr/>
          </p:nvSpPr>
          <p:spPr>
            <a:xfrm>
              <a:off x="888705" y="209745"/>
              <a:ext cx="5467502" cy="1323439"/>
            </a:xfrm>
            <a:prstGeom prst="rect">
              <a:avLst/>
            </a:prstGeom>
            <a:noFill/>
          </p:spPr>
          <p:txBody>
            <a:bodyPr wrap="square" rtlCol="0">
              <a:spAutoFit/>
            </a:bodyPr>
            <a:lstStyle/>
            <a:p>
              <a:r>
                <a:rPr lang="es-MX" sz="4000" dirty="0">
                  <a:solidFill>
                    <a:schemeClr val="bg2">
                      <a:lumMod val="50000"/>
                    </a:schemeClr>
                  </a:solidFill>
                  <a:effectLst>
                    <a:outerShdw blurRad="38100" dist="38100" dir="2700000" algn="tl">
                      <a:srgbClr val="000000">
                        <a:alpha val="43137"/>
                      </a:srgbClr>
                    </a:outerShdw>
                  </a:effectLst>
                </a:rPr>
                <a:t>Análisis y Desarrollo de Software</a:t>
              </a:r>
              <a:endParaRPr lang="es-CO" sz="4000" dirty="0">
                <a:solidFill>
                  <a:schemeClr val="bg2">
                    <a:lumMod val="50000"/>
                  </a:schemeClr>
                </a:solidFill>
                <a:effectLst>
                  <a:outerShdw blurRad="38100" dist="38100" dir="2700000" algn="tl">
                    <a:srgbClr val="000000">
                      <a:alpha val="43137"/>
                    </a:srgbClr>
                  </a:outerShdw>
                </a:effectLst>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b="1" dirty="0"/>
              <a:t>Planteamiento del Problema:</a:t>
            </a:r>
            <a:endParaRPr lang="es-CO" sz="2800" b="1"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460375" y="2472682"/>
            <a:ext cx="9518728" cy="3416320"/>
          </a:xfrm>
          <a:prstGeom prst="rect">
            <a:avLst/>
          </a:prstGeom>
        </p:spPr>
        <p:txBody>
          <a:bodyPr wrap="square">
            <a:spAutoFit/>
          </a:bodyPr>
          <a:lstStyle/>
          <a:p>
            <a:r>
              <a:rPr lang="es-MX" sz="2400" dirty="0"/>
              <a:t>La tienda de sudaderas infantiles </a:t>
            </a:r>
            <a:r>
              <a:rPr lang="es-MX" sz="2400" dirty="0" err="1"/>
              <a:t>Happy</a:t>
            </a:r>
            <a:r>
              <a:rPr lang="es-MX" sz="2400" dirty="0"/>
              <a:t> </a:t>
            </a:r>
            <a:r>
              <a:rPr lang="es-MX" sz="2400" dirty="0" err="1"/>
              <a:t>Kids</a:t>
            </a:r>
            <a:r>
              <a:rPr lang="es-MX" sz="2400" dirty="0"/>
              <a:t> maneja sus procesos de inventario y ventas de forma manual. Esta modalidad genera errores en el control de productos (tanto en venta como en almacenamiento), además de demoras en la atención al cliente, ya que las actividades de verificación y validación de mercancía se realizan sin apoyo tecnológico. Estos inconvenientes afectan negativamente tanto a los clientes como a la organización. Por ello, se requiere implementar un sistema de información que agilice los procesos y ordene la gestión de datos.</a:t>
            </a:r>
            <a:endParaRPr lang="es-CO" sz="2400" dirty="0"/>
          </a:p>
        </p:txBody>
      </p:sp>
    </p:spTree>
    <p:extLst>
      <p:ext uri="{BB962C8B-B14F-4D97-AF65-F5344CB8AC3E}">
        <p14:creationId xmlns:p14="http://schemas.microsoft.com/office/powerpoint/2010/main" val="340860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874637" y="32760"/>
            <a:ext cx="11135392" cy="1323439"/>
            <a:chOff x="874637" y="32760"/>
            <a:chExt cx="11135392" cy="1323439"/>
          </a:xfrm>
        </p:grpSpPr>
        <p:sp>
          <p:nvSpPr>
            <p:cNvPr id="8" name="CuadroTexto 7"/>
            <p:cNvSpPr txBox="1"/>
            <p:nvPr/>
          </p:nvSpPr>
          <p:spPr>
            <a:xfrm>
              <a:off x="874637" y="32760"/>
              <a:ext cx="5481570" cy="1323439"/>
            </a:xfrm>
            <a:prstGeom prst="rect">
              <a:avLst/>
            </a:prstGeom>
            <a:noFill/>
          </p:spPr>
          <p:txBody>
            <a:bodyPr wrap="square" rtlCol="0">
              <a:spAutoFit/>
            </a:bodyPr>
            <a:lstStyle/>
            <a:p>
              <a:r>
                <a:rPr lang="es-MX" sz="4000" dirty="0">
                  <a:solidFill>
                    <a:schemeClr val="bg2">
                      <a:lumMod val="50000"/>
                    </a:schemeClr>
                  </a:solidFill>
                  <a:effectLst>
                    <a:outerShdw blurRad="38100" dist="38100" dir="2700000" algn="tl">
                      <a:srgbClr val="000000">
                        <a:alpha val="43137"/>
                      </a:srgbClr>
                    </a:outerShdw>
                  </a:effectLst>
                </a:rPr>
                <a:t>Análisis y Desarrollo de Software</a:t>
              </a:r>
              <a:endParaRPr lang="es-CO" sz="4000" dirty="0">
                <a:solidFill>
                  <a:schemeClr val="bg2">
                    <a:lumMod val="50000"/>
                  </a:schemeClr>
                </a:solidFill>
                <a:effectLst>
                  <a:outerShdw blurRad="38100" dist="38100" dir="2700000" algn="tl">
                    <a:srgbClr val="000000">
                      <a:alpha val="43137"/>
                    </a:srgbClr>
                  </a:outerShdw>
                </a:effectLst>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b="1" dirty="0"/>
              <a:t>Justificación:</a:t>
            </a:r>
            <a:endParaRPr lang="es-CO" sz="2800" b="1"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307976" y="2255993"/>
            <a:ext cx="10496012" cy="3785652"/>
          </a:xfrm>
          <a:prstGeom prst="rect">
            <a:avLst/>
          </a:prstGeom>
        </p:spPr>
        <p:txBody>
          <a:bodyPr wrap="square">
            <a:spAutoFit/>
          </a:bodyPr>
          <a:lstStyle/>
          <a:p>
            <a:r>
              <a:rPr lang="es-MX" sz="2400" dirty="0"/>
              <a:t>La implementación de un sistema de información es fundamental para modernizar y organizar las operaciones de </a:t>
            </a:r>
            <a:r>
              <a:rPr lang="es-MX" sz="2400" dirty="0" err="1"/>
              <a:t>Happy</a:t>
            </a:r>
            <a:r>
              <a:rPr lang="es-MX" sz="2400" dirty="0"/>
              <a:t> </a:t>
            </a:r>
            <a:r>
              <a:rPr lang="es-MX" sz="2400" dirty="0" err="1"/>
              <a:t>Kids</a:t>
            </a:r>
            <a:r>
              <a:rPr lang="es-MX" sz="2400" dirty="0"/>
              <a:t>. Este permitirá:</a:t>
            </a:r>
          </a:p>
          <a:p>
            <a:pPr marL="342900" indent="-342900">
              <a:buFont typeface="Arial" panose="020B0604020202020204" pitchFamily="34" charset="0"/>
              <a:buChar char="•"/>
            </a:pPr>
            <a:r>
              <a:rPr lang="es-MX" sz="2400" dirty="0"/>
              <a:t> Mejorar el control de inventario, con conocimiento preciso de tallas, colores y existencias disponibles.</a:t>
            </a:r>
          </a:p>
          <a:p>
            <a:pPr marL="342900" indent="-342900">
              <a:buFont typeface="Arial" panose="020B0604020202020204" pitchFamily="34" charset="0"/>
              <a:buChar char="•"/>
            </a:pPr>
            <a:r>
              <a:rPr lang="es-MX" sz="2400" dirty="0"/>
              <a:t>Reducir errores en el registro de pedidos y agilizar el proceso de ventas</a:t>
            </a:r>
          </a:p>
          <a:p>
            <a:pPr marL="342900" indent="-342900">
              <a:buFont typeface="Arial" panose="020B0604020202020204" pitchFamily="34" charset="0"/>
              <a:buChar char="•"/>
            </a:pPr>
            <a:r>
              <a:rPr lang="es-MX" sz="2400" dirty="0"/>
              <a:t>Mejorar la atención al cliente al brindar información clara y confiable, aumentando su satisfacción y confianza en la marca.</a:t>
            </a:r>
          </a:p>
          <a:p>
            <a:pPr marL="342900" indent="-342900">
              <a:buFont typeface="Arial" panose="020B0604020202020204" pitchFamily="34" charset="0"/>
              <a:buChar char="•"/>
            </a:pPr>
            <a:endParaRPr lang="es-MX" sz="2400" dirty="0"/>
          </a:p>
          <a:p>
            <a:r>
              <a:rPr lang="es-MX" sz="2400" dirty="0"/>
              <a:t>Con ello, el negocio optimizará su tiempo, fortalecerá su administración y logrará un crecimiento ordenado y eficiente.</a:t>
            </a:r>
          </a:p>
        </p:txBody>
      </p:sp>
    </p:spTree>
    <p:extLst>
      <p:ext uri="{BB962C8B-B14F-4D97-AF65-F5344CB8AC3E}">
        <p14:creationId xmlns:p14="http://schemas.microsoft.com/office/powerpoint/2010/main" val="3279429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764486" y="211200"/>
            <a:ext cx="11245543" cy="1323439"/>
            <a:chOff x="764486" y="211200"/>
            <a:chExt cx="11245543" cy="1323439"/>
          </a:xfrm>
        </p:grpSpPr>
        <p:sp>
          <p:nvSpPr>
            <p:cNvPr id="8" name="CuadroTexto 7"/>
            <p:cNvSpPr txBox="1"/>
            <p:nvPr/>
          </p:nvSpPr>
          <p:spPr>
            <a:xfrm>
              <a:off x="764486" y="211200"/>
              <a:ext cx="5331514" cy="1323439"/>
            </a:xfrm>
            <a:prstGeom prst="rect">
              <a:avLst/>
            </a:prstGeom>
            <a:noFill/>
          </p:spPr>
          <p:txBody>
            <a:bodyPr wrap="square" rtlCol="0">
              <a:spAutoFit/>
            </a:bodyPr>
            <a:lstStyle/>
            <a:p>
              <a:r>
                <a:rPr lang="es-MX" sz="4000" dirty="0">
                  <a:solidFill>
                    <a:schemeClr val="bg2">
                      <a:lumMod val="50000"/>
                    </a:schemeClr>
                  </a:solidFill>
                </a:rPr>
                <a:t>Análisis y Desarrollo de Software</a:t>
              </a:r>
              <a:endParaRPr lang="es-CO" sz="4000" dirty="0">
                <a:solidFill>
                  <a:schemeClr val="bg2">
                    <a:lumMod val="50000"/>
                  </a:schemeClr>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effectLst>
                  <a:outerShdw blurRad="38100" dist="38100" dir="2700000" algn="tl">
                    <a:srgbClr val="000000">
                      <a:alpha val="43137"/>
                    </a:srgbClr>
                  </a:outerShdw>
                </a:effectLst>
              </a:rPr>
              <a:t>Pregunta del proyecto</a:t>
            </a:r>
            <a:r>
              <a:rPr lang="es-MX" sz="2800" dirty="0"/>
              <a:t>:</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460374" y="2521528"/>
            <a:ext cx="11413177" cy="1384995"/>
          </a:xfrm>
          <a:prstGeom prst="rect">
            <a:avLst/>
          </a:prstGeom>
        </p:spPr>
        <p:txBody>
          <a:bodyPr wrap="square">
            <a:spAutoFit/>
          </a:bodyPr>
          <a:lstStyle/>
          <a:p>
            <a:r>
              <a:rPr lang="es-MX" sz="2800" dirty="0"/>
              <a:t>¿Cómo puede mejorar un sistema web de comercio electrónico e inventario los procesos de venta, la administración operativa y la experiencia del cliente en </a:t>
            </a:r>
            <a:r>
              <a:rPr lang="es-MX" sz="2800" dirty="0" err="1"/>
              <a:t>Happy</a:t>
            </a:r>
            <a:r>
              <a:rPr lang="es-MX" sz="2800" dirty="0"/>
              <a:t> </a:t>
            </a:r>
            <a:r>
              <a:rPr lang="es-MX" sz="2800" dirty="0" err="1"/>
              <a:t>Kids</a:t>
            </a:r>
            <a:r>
              <a:rPr lang="es-MX" sz="2800" dirty="0"/>
              <a:t>?</a:t>
            </a:r>
            <a:endParaRPr lang="es-CO" sz="2800" dirty="0"/>
          </a:p>
        </p:txBody>
      </p:sp>
    </p:spTree>
    <p:extLst>
      <p:ext uri="{BB962C8B-B14F-4D97-AF65-F5344CB8AC3E}">
        <p14:creationId xmlns:p14="http://schemas.microsoft.com/office/powerpoint/2010/main" val="231244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1003636" y="9225"/>
            <a:ext cx="11006393" cy="1323439"/>
            <a:chOff x="1003636" y="9225"/>
            <a:chExt cx="11006393" cy="1323439"/>
          </a:xfrm>
        </p:grpSpPr>
        <p:sp>
          <p:nvSpPr>
            <p:cNvPr id="8" name="CuadroTexto 7"/>
            <p:cNvSpPr txBox="1"/>
            <p:nvPr/>
          </p:nvSpPr>
          <p:spPr>
            <a:xfrm>
              <a:off x="1003636" y="9225"/>
              <a:ext cx="5895832" cy="1323439"/>
            </a:xfrm>
            <a:prstGeom prst="rect">
              <a:avLst/>
            </a:prstGeom>
            <a:noFill/>
          </p:spPr>
          <p:txBody>
            <a:bodyPr wrap="square" rtlCol="0">
              <a:spAutoFit/>
            </a:bodyPr>
            <a:lstStyle/>
            <a:p>
              <a:r>
                <a:rPr lang="es-MX" sz="4000" dirty="0">
                  <a:solidFill>
                    <a:schemeClr val="bg2">
                      <a:lumMod val="50000"/>
                    </a:schemeClr>
                  </a:solidFill>
                </a:rPr>
                <a:t>Análisis y Desarrollo de Software</a:t>
              </a:r>
              <a:endParaRPr lang="es-CO" sz="4000" dirty="0">
                <a:solidFill>
                  <a:schemeClr val="bg2">
                    <a:lumMod val="50000"/>
                  </a:schemeClr>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623447"/>
            <a:ext cx="6628264" cy="523220"/>
          </a:xfrm>
          <a:prstGeom prst="rect">
            <a:avLst/>
          </a:prstGeom>
        </p:spPr>
        <p:txBody>
          <a:bodyPr wrap="square">
            <a:spAutoFit/>
          </a:bodyPr>
          <a:lstStyle/>
          <a:p>
            <a:r>
              <a:rPr lang="es-MX" sz="2800" dirty="0"/>
              <a:t>Objetivo General:</a:t>
            </a:r>
            <a:endParaRPr lang="es-CO" sz="2800" dirty="0"/>
          </a:p>
        </p:txBody>
      </p:sp>
      <p:cxnSp>
        <p:nvCxnSpPr>
          <p:cNvPr id="17" name="Conector recto 16"/>
          <p:cNvCxnSpPr/>
          <p:nvPr/>
        </p:nvCxnSpPr>
        <p:spPr>
          <a:xfrm>
            <a:off x="529156" y="2280056"/>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307975" y="2474893"/>
            <a:ext cx="9991057" cy="2246769"/>
          </a:xfrm>
          <a:prstGeom prst="rect">
            <a:avLst/>
          </a:prstGeom>
        </p:spPr>
        <p:txBody>
          <a:bodyPr wrap="square">
            <a:spAutoFit/>
          </a:bodyPr>
          <a:lstStyle/>
          <a:p>
            <a:r>
              <a:rPr lang="es-MX" sz="2800" dirty="0">
                <a:solidFill>
                  <a:schemeClr val="tx1">
                    <a:lumMod val="95000"/>
                    <a:lumOff val="5000"/>
                  </a:schemeClr>
                </a:solidFill>
                <a:latin typeface="Calibri Light (Títulos)"/>
              </a:rPr>
              <a:t>Diseñar e implementar un sistema de información para  </a:t>
            </a:r>
            <a:r>
              <a:rPr lang="es-MX" sz="2800" dirty="0" err="1">
                <a:solidFill>
                  <a:schemeClr val="tx1">
                    <a:lumMod val="95000"/>
                    <a:lumOff val="5000"/>
                  </a:schemeClr>
                </a:solidFill>
                <a:latin typeface="Calibri Light (Títulos)"/>
              </a:rPr>
              <a:t>happy</a:t>
            </a:r>
            <a:r>
              <a:rPr lang="es-MX" sz="2800" dirty="0">
                <a:solidFill>
                  <a:schemeClr val="tx1">
                    <a:lumMod val="95000"/>
                    <a:lumOff val="5000"/>
                  </a:schemeClr>
                </a:solidFill>
                <a:latin typeface="Calibri Light (Títulos)"/>
              </a:rPr>
              <a:t> </a:t>
            </a:r>
            <a:r>
              <a:rPr lang="es-MX" sz="2800" dirty="0" err="1">
                <a:solidFill>
                  <a:schemeClr val="tx1">
                    <a:lumMod val="95000"/>
                    <a:lumOff val="5000"/>
                  </a:schemeClr>
                </a:solidFill>
                <a:latin typeface="Calibri Light (Títulos)"/>
              </a:rPr>
              <a:t>kids</a:t>
            </a:r>
            <a:r>
              <a:rPr lang="es-MX" sz="2800" dirty="0">
                <a:solidFill>
                  <a:schemeClr val="tx1">
                    <a:lumMod val="95000"/>
                    <a:lumOff val="5000"/>
                  </a:schemeClr>
                </a:solidFill>
                <a:latin typeface="Calibri Light (Títulos)"/>
              </a:rPr>
              <a:t>, que gestione eficientemente ventas como físicas y en línea , control de inventario en tiempo real, garantizar un manejo seguro y confiable de información, optimice procesos operativos y mejore la atención dl cliente</a:t>
            </a:r>
            <a:endParaRPr lang="es-CO" sz="2800" dirty="0">
              <a:solidFill>
                <a:schemeClr val="tx1">
                  <a:lumMod val="95000"/>
                  <a:lumOff val="5000"/>
                </a:schemeClr>
              </a:solidFill>
              <a:latin typeface="Calibri Light (Títulos)"/>
            </a:endParaRPr>
          </a:p>
        </p:txBody>
      </p:sp>
    </p:spTree>
    <p:extLst>
      <p:ext uri="{BB962C8B-B14F-4D97-AF65-F5344CB8AC3E}">
        <p14:creationId xmlns:p14="http://schemas.microsoft.com/office/powerpoint/2010/main" val="3732471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746529" y="211200"/>
            <a:ext cx="11263500" cy="1401446"/>
            <a:chOff x="746529" y="211200"/>
            <a:chExt cx="11263500" cy="1401446"/>
          </a:xfrm>
        </p:grpSpPr>
        <p:sp>
          <p:nvSpPr>
            <p:cNvPr id="8" name="CuadroTexto 7"/>
            <p:cNvSpPr txBox="1"/>
            <p:nvPr/>
          </p:nvSpPr>
          <p:spPr>
            <a:xfrm>
              <a:off x="746529" y="289207"/>
              <a:ext cx="6055955" cy="1323439"/>
            </a:xfrm>
            <a:prstGeom prst="rect">
              <a:avLst/>
            </a:prstGeom>
            <a:noFill/>
          </p:spPr>
          <p:txBody>
            <a:bodyPr wrap="square" rtlCol="0">
              <a:spAutoFit/>
            </a:bodyPr>
            <a:lstStyle/>
            <a:p>
              <a:r>
                <a:rPr lang="es-MX" sz="4000" dirty="0">
                  <a:solidFill>
                    <a:schemeClr val="bg2">
                      <a:lumMod val="50000"/>
                    </a:schemeClr>
                  </a:solidFill>
                </a:rPr>
                <a:t>Análisis y Desarrollo de Software</a:t>
              </a:r>
              <a:endParaRPr lang="es-CO" sz="4000" dirty="0">
                <a:solidFill>
                  <a:schemeClr val="bg2">
                    <a:lumMod val="50000"/>
                  </a:schemeClr>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t>Objetivo Específicos:</a:t>
            </a:r>
            <a:endParaRPr lang="es-CO" sz="2800" dirty="0"/>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524967" y="2521531"/>
            <a:ext cx="9593592" cy="3785652"/>
          </a:xfrm>
          <a:prstGeom prst="rect">
            <a:avLst/>
          </a:prstGeom>
        </p:spPr>
        <p:txBody>
          <a:bodyPr wrap="square">
            <a:spAutoFit/>
          </a:bodyPr>
          <a:lstStyle/>
          <a:p>
            <a:pPr marL="457200" indent="-457200">
              <a:buFont typeface="Arial" panose="020B0604020202020204" pitchFamily="34" charset="0"/>
              <a:buChar char="•"/>
            </a:pPr>
            <a:r>
              <a:rPr lang="es-MX" sz="2400" dirty="0">
                <a:latin typeface="+mj-lt"/>
                <a:cs typeface="Arial" panose="020B0604020202020204" pitchFamily="34" charset="0"/>
              </a:rPr>
              <a:t>Desarrollar módulos para control de ventas, gestión de inventario y generación de reportes.</a:t>
            </a:r>
          </a:p>
          <a:p>
            <a:pPr marL="457200" indent="-457200">
              <a:buFont typeface="Arial" panose="020B0604020202020204" pitchFamily="34" charset="0"/>
              <a:buChar char="•"/>
            </a:pPr>
            <a:r>
              <a:rPr lang="es-MX" sz="2400" dirty="0">
                <a:latin typeface="+mj-lt"/>
                <a:cs typeface="Arial" panose="020B0604020202020204" pitchFamily="34" charset="0"/>
              </a:rPr>
              <a:t>Crear una base de datos segura para productos, clientes y transacciones.</a:t>
            </a:r>
          </a:p>
          <a:p>
            <a:pPr marL="457200" indent="-457200">
              <a:buFont typeface="Arial" panose="020B0604020202020204" pitchFamily="34" charset="0"/>
              <a:buChar char="•"/>
            </a:pPr>
            <a:r>
              <a:rPr lang="es-MX" sz="2400" dirty="0">
                <a:latin typeface="+mj-lt"/>
                <a:cs typeface="Arial" panose="020B0604020202020204" pitchFamily="34" charset="0"/>
              </a:rPr>
              <a:t> Implementar seguridad con perfiles de usuario y autenticación protegida.</a:t>
            </a:r>
          </a:p>
          <a:p>
            <a:pPr marL="457200" indent="-457200">
              <a:buFont typeface="Arial" panose="020B0604020202020204" pitchFamily="34" charset="0"/>
              <a:buChar char="•"/>
            </a:pPr>
            <a:r>
              <a:rPr lang="es-MX" sz="2400" dirty="0">
                <a:latin typeface="+mj-lt"/>
                <a:cs typeface="Arial" panose="020B0604020202020204" pitchFamily="34" charset="0"/>
              </a:rPr>
              <a:t> Administrar datos de productos: categorías, precios, existencias y movimientos.</a:t>
            </a:r>
          </a:p>
          <a:p>
            <a:pPr marL="457200" indent="-457200">
              <a:buFont typeface="Arial" panose="020B0604020202020204" pitchFamily="34" charset="0"/>
              <a:buChar char="•"/>
            </a:pPr>
            <a:r>
              <a:rPr lang="es-MX" sz="2400" dirty="0">
                <a:latin typeface="+mj-lt"/>
                <a:cs typeface="Arial" panose="020B0604020202020204" pitchFamily="34" charset="0"/>
              </a:rPr>
              <a:t> Construir una interfaz intuitiva y adaptable a distintos dispositivos</a:t>
            </a:r>
            <a:endParaRPr lang="es-CO" sz="2400" dirty="0">
              <a:latin typeface="+mj-lt"/>
              <a:cs typeface="Arial" panose="020B0604020202020204" pitchFamily="34" charset="0"/>
            </a:endParaRPr>
          </a:p>
        </p:txBody>
      </p:sp>
    </p:spTree>
    <p:extLst>
      <p:ext uri="{BB962C8B-B14F-4D97-AF65-F5344CB8AC3E}">
        <p14:creationId xmlns:p14="http://schemas.microsoft.com/office/powerpoint/2010/main" val="961234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Quiénes somo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grpSp>
        <p:nvGrpSpPr>
          <p:cNvPr id="18" name="Grupo 17"/>
          <p:cNvGrpSpPr/>
          <p:nvPr/>
        </p:nvGrpSpPr>
        <p:grpSpPr>
          <a:xfrm>
            <a:off x="862959" y="211200"/>
            <a:ext cx="11147070" cy="1323439"/>
            <a:chOff x="862959" y="211200"/>
            <a:chExt cx="11147070" cy="1323439"/>
          </a:xfrm>
        </p:grpSpPr>
        <p:sp>
          <p:nvSpPr>
            <p:cNvPr id="8" name="CuadroTexto 7"/>
            <p:cNvSpPr txBox="1"/>
            <p:nvPr/>
          </p:nvSpPr>
          <p:spPr>
            <a:xfrm>
              <a:off x="862959" y="211200"/>
              <a:ext cx="4848523" cy="1323439"/>
            </a:xfrm>
            <a:prstGeom prst="rect">
              <a:avLst/>
            </a:prstGeom>
            <a:noFill/>
          </p:spPr>
          <p:txBody>
            <a:bodyPr wrap="square" rtlCol="0">
              <a:spAutoFit/>
            </a:bodyPr>
            <a:lstStyle/>
            <a:p>
              <a:r>
                <a:rPr lang="es-MX" sz="4000" dirty="0">
                  <a:solidFill>
                    <a:schemeClr val="bg2">
                      <a:lumMod val="50000"/>
                    </a:schemeClr>
                  </a:solidFill>
                </a:rPr>
                <a:t>Análisis y Desarrollo de Software</a:t>
              </a:r>
              <a:endParaRPr lang="es-CO" sz="4000" dirty="0">
                <a:solidFill>
                  <a:schemeClr val="bg2">
                    <a:lumMod val="50000"/>
                  </a:schemeClr>
                </a:solidFill>
              </a:endParaRPr>
            </a:p>
          </p:txBody>
        </p:sp>
        <p:pic>
          <p:nvPicPr>
            <p:cNvPr id="10" name="Imagen 9"/>
            <p:cNvPicPr>
              <a:picLocks noChangeAspect="1"/>
            </p:cNvPicPr>
            <p:nvPr/>
          </p:nvPicPr>
          <p:blipFill>
            <a:blip r:embed="rId2"/>
            <a:stretch>
              <a:fillRect/>
            </a:stretch>
          </p:blipFill>
          <p:spPr>
            <a:xfrm>
              <a:off x="10945504" y="211200"/>
              <a:ext cx="1064525" cy="1027017"/>
            </a:xfrm>
            <a:prstGeom prst="rect">
              <a:avLst/>
            </a:prstGeom>
          </p:spPr>
        </p:pic>
      </p:grpSp>
      <p:sp>
        <p:nvSpPr>
          <p:cNvPr id="14" name="Rectángulo 13"/>
          <p:cNvSpPr/>
          <p:nvPr/>
        </p:nvSpPr>
        <p:spPr>
          <a:xfrm>
            <a:off x="460375" y="1732773"/>
            <a:ext cx="6628264" cy="523220"/>
          </a:xfrm>
          <a:prstGeom prst="rect">
            <a:avLst/>
          </a:prstGeom>
        </p:spPr>
        <p:txBody>
          <a:bodyPr wrap="square">
            <a:spAutoFit/>
          </a:bodyPr>
          <a:lstStyle/>
          <a:p>
            <a:r>
              <a:rPr lang="es-MX" sz="2800" dirty="0">
                <a:effectLst>
                  <a:outerShdw blurRad="38100" dist="38100" dir="2700000" algn="tl">
                    <a:srgbClr val="000000">
                      <a:alpha val="43137"/>
                    </a:srgbClr>
                  </a:outerShdw>
                </a:effectLst>
              </a:rPr>
              <a:t>Alcance:</a:t>
            </a:r>
            <a:endParaRPr lang="es-CO" sz="2800" dirty="0">
              <a:effectLst>
                <a:outerShdw blurRad="38100" dist="38100" dir="2700000" algn="tl">
                  <a:srgbClr val="000000">
                    <a:alpha val="43137"/>
                  </a:srgbClr>
                </a:outerShdw>
              </a:effectLst>
            </a:endParaRPr>
          </a:p>
        </p:txBody>
      </p:sp>
      <p:cxnSp>
        <p:nvCxnSpPr>
          <p:cNvPr id="17" name="Conector recto 16"/>
          <p:cNvCxnSpPr/>
          <p:nvPr/>
        </p:nvCxnSpPr>
        <p:spPr>
          <a:xfrm>
            <a:off x="460375" y="2255993"/>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ángulo 10"/>
          <p:cNvSpPr/>
          <p:nvPr/>
        </p:nvSpPr>
        <p:spPr>
          <a:xfrm>
            <a:off x="524964" y="2521528"/>
            <a:ext cx="9689847" cy="2677656"/>
          </a:xfrm>
          <a:prstGeom prst="rect">
            <a:avLst/>
          </a:prstGeom>
        </p:spPr>
        <p:txBody>
          <a:bodyPr wrap="square">
            <a:spAutoFit/>
          </a:bodyPr>
          <a:lstStyle/>
          <a:p>
            <a:pPr marL="457200" indent="-457200">
              <a:buFont typeface="Arial" panose="020B0604020202020204" pitchFamily="34" charset="0"/>
              <a:buChar char="•"/>
            </a:pPr>
            <a:r>
              <a:rPr lang="es-MX" sz="2400" dirty="0"/>
              <a:t>El sistema de información para </a:t>
            </a:r>
            <a:r>
              <a:rPr lang="es-MX" sz="2400" dirty="0" err="1"/>
              <a:t>Happy</a:t>
            </a:r>
            <a:r>
              <a:rPr lang="es-MX" sz="2400" dirty="0"/>
              <a:t> </a:t>
            </a:r>
            <a:r>
              <a:rPr lang="es-MX" sz="2400" dirty="0" err="1"/>
              <a:t>Kids</a:t>
            </a:r>
            <a:r>
              <a:rPr lang="es-MX" sz="2400" dirty="0"/>
              <a:t> cubrirá gestión de inventario, registro de ventas, generación de reportes y validación de datos. Dirigido a administradores (gestión total) y vendedores (registrar ventas, consultar productos). La primera versión incluirá módulos de inventario, ventas, reportes y usuarios, optimizando procesos y garantizando información ágil e íntegra.</a:t>
            </a:r>
            <a:endParaRPr lang="es-CO" sz="2400" dirty="0"/>
          </a:p>
        </p:txBody>
      </p:sp>
    </p:spTree>
    <p:extLst>
      <p:ext uri="{BB962C8B-B14F-4D97-AF65-F5344CB8AC3E}">
        <p14:creationId xmlns:p14="http://schemas.microsoft.com/office/powerpoint/2010/main" val="165528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AB6A24-1BEB-FC45-CD0D-91366C9369D7}"/>
              </a:ext>
            </a:extLst>
          </p:cNvPr>
          <p:cNvSpPr>
            <a:spLocks noGrp="1"/>
          </p:cNvSpPr>
          <p:nvPr>
            <p:ph type="title"/>
          </p:nvPr>
        </p:nvSpPr>
        <p:spPr>
          <a:xfrm>
            <a:off x="5649384" y="136929"/>
            <a:ext cx="8596668" cy="1320800"/>
          </a:xfrm>
        </p:spPr>
        <p:txBody>
          <a:bodyPr/>
          <a:lstStyle/>
          <a:p>
            <a:r>
              <a:rPr lang="es-MX" dirty="0"/>
              <a:t>.</a:t>
            </a:r>
            <a:endParaRPr lang="es-CO" dirty="0"/>
          </a:p>
        </p:txBody>
      </p:sp>
      <p:sp>
        <p:nvSpPr>
          <p:cNvPr id="5" name="CuadroTexto 4">
            <a:extLst>
              <a:ext uri="{FF2B5EF4-FFF2-40B4-BE49-F238E27FC236}">
                <a16:creationId xmlns:a16="http://schemas.microsoft.com/office/drawing/2014/main" id="{D4C47D94-7D43-D097-7137-9D84770588AC}"/>
              </a:ext>
            </a:extLst>
          </p:cNvPr>
          <p:cNvSpPr txBox="1"/>
          <p:nvPr/>
        </p:nvSpPr>
        <p:spPr>
          <a:xfrm>
            <a:off x="438364" y="62988"/>
            <a:ext cx="5657636" cy="1323439"/>
          </a:xfrm>
          <a:prstGeom prst="rect">
            <a:avLst/>
          </a:prstGeom>
          <a:noFill/>
        </p:spPr>
        <p:txBody>
          <a:bodyPr wrap="square" rtlCol="0">
            <a:spAutoFit/>
          </a:bodyPr>
          <a:lstStyle/>
          <a:p>
            <a:r>
              <a:rPr lang="es-MX" sz="4000" dirty="0">
                <a:solidFill>
                  <a:schemeClr val="bg2">
                    <a:lumMod val="50000"/>
                  </a:schemeClr>
                </a:solidFill>
              </a:rPr>
              <a:t>Análisis y Desarrollo de Software</a:t>
            </a:r>
            <a:endParaRPr lang="es-CO" sz="4000" dirty="0">
              <a:solidFill>
                <a:schemeClr val="bg2">
                  <a:lumMod val="50000"/>
                </a:schemeClr>
              </a:solidFill>
            </a:endParaRPr>
          </a:p>
        </p:txBody>
      </p:sp>
      <p:pic>
        <p:nvPicPr>
          <p:cNvPr id="6" name="Imagen 5">
            <a:extLst>
              <a:ext uri="{FF2B5EF4-FFF2-40B4-BE49-F238E27FC236}">
                <a16:creationId xmlns:a16="http://schemas.microsoft.com/office/drawing/2014/main" id="{4A34BB21-9179-4514-26AF-5DA559941A51}"/>
              </a:ext>
            </a:extLst>
          </p:cNvPr>
          <p:cNvPicPr>
            <a:picLocks noChangeAspect="1"/>
          </p:cNvPicPr>
          <p:nvPr/>
        </p:nvPicPr>
        <p:blipFill>
          <a:blip r:embed="rId2"/>
          <a:stretch>
            <a:fillRect/>
          </a:stretch>
        </p:blipFill>
        <p:spPr>
          <a:xfrm>
            <a:off x="10945504" y="211200"/>
            <a:ext cx="1064525" cy="1027017"/>
          </a:xfrm>
          <a:prstGeom prst="rect">
            <a:avLst/>
          </a:prstGeom>
        </p:spPr>
      </p:pic>
      <p:sp>
        <p:nvSpPr>
          <p:cNvPr id="10" name="Rectángulo 9">
            <a:extLst>
              <a:ext uri="{FF2B5EF4-FFF2-40B4-BE49-F238E27FC236}">
                <a16:creationId xmlns:a16="http://schemas.microsoft.com/office/drawing/2014/main" id="{E454FC93-E41C-D46D-B10E-5D7BB80A3FCE}"/>
              </a:ext>
            </a:extLst>
          </p:cNvPr>
          <p:cNvSpPr/>
          <p:nvPr/>
        </p:nvSpPr>
        <p:spPr>
          <a:xfrm>
            <a:off x="409575" y="1246843"/>
            <a:ext cx="6628264" cy="954107"/>
          </a:xfrm>
          <a:prstGeom prst="rect">
            <a:avLst/>
          </a:prstGeom>
        </p:spPr>
        <p:txBody>
          <a:bodyPr wrap="square">
            <a:spAutoFit/>
          </a:bodyPr>
          <a:lstStyle/>
          <a:p>
            <a:r>
              <a:rPr lang="es-MX" sz="2800" dirty="0"/>
              <a:t>BPMN:</a:t>
            </a:r>
          </a:p>
          <a:p>
            <a:endParaRPr lang="es-CO" sz="2800" dirty="0"/>
          </a:p>
        </p:txBody>
      </p:sp>
      <p:cxnSp>
        <p:nvCxnSpPr>
          <p:cNvPr id="11" name="Conector recto 10">
            <a:extLst>
              <a:ext uri="{FF2B5EF4-FFF2-40B4-BE49-F238E27FC236}">
                <a16:creationId xmlns:a16="http://schemas.microsoft.com/office/drawing/2014/main" id="{B8D6FF2C-906D-073B-2C51-CC36237D568E}"/>
              </a:ext>
            </a:extLst>
          </p:cNvPr>
          <p:cNvCxnSpPr/>
          <p:nvPr/>
        </p:nvCxnSpPr>
        <p:spPr>
          <a:xfrm>
            <a:off x="409575" y="1866526"/>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AutoShape 2">
            <a:extLst>
              <a:ext uri="{FF2B5EF4-FFF2-40B4-BE49-F238E27FC236}">
                <a16:creationId xmlns:a16="http://schemas.microsoft.com/office/drawing/2014/main" id="{2A89403C-5089-4A53-874C-7FD802504AD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4" name="Imagen 13">
            <a:extLst>
              <a:ext uri="{FF2B5EF4-FFF2-40B4-BE49-F238E27FC236}">
                <a16:creationId xmlns:a16="http://schemas.microsoft.com/office/drawing/2014/main" id="{F124D2EE-7173-4292-8B13-93AE58DB0E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575" y="2006110"/>
            <a:ext cx="10943925" cy="4838700"/>
          </a:xfrm>
          <a:prstGeom prst="rect">
            <a:avLst/>
          </a:prstGeom>
        </p:spPr>
      </p:pic>
    </p:spTree>
    <p:extLst>
      <p:ext uri="{BB962C8B-B14F-4D97-AF65-F5344CB8AC3E}">
        <p14:creationId xmlns:p14="http://schemas.microsoft.com/office/powerpoint/2010/main" val="3840921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60AED-78FA-FDB8-620F-052A7A7EDEEE}"/>
              </a:ext>
            </a:extLst>
          </p:cNvPr>
          <p:cNvSpPr>
            <a:spLocks noGrp="1"/>
          </p:cNvSpPr>
          <p:nvPr>
            <p:ph type="title"/>
          </p:nvPr>
        </p:nvSpPr>
        <p:spPr/>
        <p:txBody>
          <a:bodyPr/>
          <a:lstStyle/>
          <a:p>
            <a:r>
              <a:rPr lang="es-MX" dirty="0"/>
              <a:t> </a:t>
            </a:r>
            <a:endParaRPr lang="es-CO" dirty="0"/>
          </a:p>
        </p:txBody>
      </p:sp>
      <p:sp>
        <p:nvSpPr>
          <p:cNvPr id="3" name="Marcador de contenido 2">
            <a:extLst>
              <a:ext uri="{FF2B5EF4-FFF2-40B4-BE49-F238E27FC236}">
                <a16:creationId xmlns:a16="http://schemas.microsoft.com/office/drawing/2014/main" id="{29AB0DA7-DEDD-B93E-9466-E966EB528A92}"/>
              </a:ext>
            </a:extLst>
          </p:cNvPr>
          <p:cNvSpPr>
            <a:spLocks noGrp="1"/>
          </p:cNvSpPr>
          <p:nvPr>
            <p:ph idx="1"/>
          </p:nvPr>
        </p:nvSpPr>
        <p:spPr>
          <a:xfrm>
            <a:off x="1" y="1865161"/>
            <a:ext cx="3955550" cy="2031326"/>
          </a:xfrm>
        </p:spPr>
        <p:txBody>
          <a:bodyPr>
            <a:noAutofit/>
          </a:bodyPr>
          <a:lstStyle/>
          <a:p>
            <a:pPr marL="457200" indent="-457200">
              <a:buAutoNum type="arabicPeriod"/>
            </a:pPr>
            <a:r>
              <a:rPr lang="es-MX" sz="1800" b="1" dirty="0">
                <a:latin typeface="Arial" panose="020B0604020202020204" pitchFamily="34" charset="0"/>
                <a:cs typeface="Arial" panose="020B0604020202020204" pitchFamily="34" charset="0"/>
              </a:rPr>
              <a:t>¿Qué diferencia a </a:t>
            </a:r>
            <a:r>
              <a:rPr lang="es-MX" sz="1800" b="1" dirty="0" err="1">
                <a:latin typeface="Arial" panose="020B0604020202020204" pitchFamily="34" charset="0"/>
                <a:cs typeface="Arial" panose="020B0604020202020204" pitchFamily="34" charset="0"/>
              </a:rPr>
              <a:t>Happy</a:t>
            </a:r>
            <a:r>
              <a:rPr lang="es-MX" sz="1800" b="1" dirty="0">
                <a:latin typeface="Arial" panose="020B0604020202020204" pitchFamily="34" charset="0"/>
                <a:cs typeface="Arial" panose="020B0604020202020204" pitchFamily="34" charset="0"/>
              </a:rPr>
              <a:t> </a:t>
            </a:r>
            <a:r>
              <a:rPr lang="es-MX" sz="1800" b="1" dirty="0" err="1">
                <a:latin typeface="Arial" panose="020B0604020202020204" pitchFamily="34" charset="0"/>
                <a:cs typeface="Arial" panose="020B0604020202020204" pitchFamily="34" charset="0"/>
              </a:rPr>
              <a:t>Kids</a:t>
            </a:r>
            <a:r>
              <a:rPr lang="es-MX" sz="1800" b="1" dirty="0">
                <a:latin typeface="Arial" panose="020B0604020202020204" pitchFamily="34" charset="0"/>
                <a:cs typeface="Arial" panose="020B0604020202020204" pitchFamily="34" charset="0"/>
              </a:rPr>
              <a:t> de otras tiendas de ropa para niños?</a:t>
            </a:r>
            <a:br>
              <a:rPr lang="es-MX" sz="1800" dirty="0">
                <a:latin typeface="Arial" panose="020B0604020202020204" pitchFamily="34" charset="0"/>
                <a:cs typeface="Arial" panose="020B0604020202020204" pitchFamily="34" charset="0"/>
              </a:rPr>
            </a:br>
            <a:r>
              <a:rPr lang="es-MX" sz="1800" dirty="0">
                <a:latin typeface="Arial" panose="020B0604020202020204" pitchFamily="34" charset="0"/>
                <a:cs typeface="Arial" panose="020B0604020202020204" pitchFamily="34" charset="0"/>
              </a:rPr>
              <a:t>Nos diferenciamos porque fabricamos sudaderas con nuevas </a:t>
            </a:r>
            <a:r>
              <a:rPr lang="es-MX" sz="1800" dirty="0">
                <a:latin typeface="Arial Narrow" panose="020B0606020202030204" pitchFamily="34" charset="0"/>
                <a:cs typeface="Arial" panose="020B0604020202020204" pitchFamily="34" charset="0"/>
              </a:rPr>
              <a:t>tendencias</a:t>
            </a:r>
            <a:r>
              <a:rPr lang="es-MX" sz="1800" dirty="0">
                <a:latin typeface="Arial" panose="020B0604020202020204" pitchFamily="34" charset="0"/>
                <a:cs typeface="Arial" panose="020B0604020202020204" pitchFamily="34" charset="0"/>
              </a:rPr>
              <a:t> en moda infantil, combinando diseño, comodidad y calidad</a:t>
            </a:r>
            <a:endParaRPr lang="es-CO" sz="1800"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C5B13BFC-81D9-E5F5-5315-493F1B5259E8}"/>
              </a:ext>
            </a:extLst>
          </p:cNvPr>
          <p:cNvSpPr txBox="1"/>
          <p:nvPr/>
        </p:nvSpPr>
        <p:spPr>
          <a:xfrm>
            <a:off x="300252" y="62988"/>
            <a:ext cx="8393582" cy="707886"/>
          </a:xfrm>
          <a:prstGeom prst="rect">
            <a:avLst/>
          </a:prstGeom>
          <a:noFill/>
        </p:spPr>
        <p:txBody>
          <a:bodyPr wrap="square" rtlCol="0">
            <a:spAutoFit/>
          </a:bodyPr>
          <a:lstStyle/>
          <a:p>
            <a:r>
              <a:rPr lang="es-MX" sz="4000" dirty="0">
                <a:solidFill>
                  <a:schemeClr val="bg2">
                    <a:lumMod val="50000"/>
                  </a:schemeClr>
                </a:solidFill>
              </a:rPr>
              <a:t>Análisis y Desarrollo de Software</a:t>
            </a:r>
            <a:endParaRPr lang="es-CO" sz="4000" dirty="0">
              <a:solidFill>
                <a:schemeClr val="bg2">
                  <a:lumMod val="50000"/>
                </a:schemeClr>
              </a:solidFill>
            </a:endParaRPr>
          </a:p>
        </p:txBody>
      </p:sp>
      <p:pic>
        <p:nvPicPr>
          <p:cNvPr id="6" name="Imagen 5">
            <a:extLst>
              <a:ext uri="{FF2B5EF4-FFF2-40B4-BE49-F238E27FC236}">
                <a16:creationId xmlns:a16="http://schemas.microsoft.com/office/drawing/2014/main" id="{D504A2B6-2833-0DC5-5608-D8079C9C25D8}"/>
              </a:ext>
            </a:extLst>
          </p:cNvPr>
          <p:cNvPicPr>
            <a:picLocks noChangeAspect="1"/>
          </p:cNvPicPr>
          <p:nvPr/>
        </p:nvPicPr>
        <p:blipFill>
          <a:blip r:embed="rId2"/>
          <a:stretch>
            <a:fillRect/>
          </a:stretch>
        </p:blipFill>
        <p:spPr>
          <a:xfrm>
            <a:off x="10945504" y="211200"/>
            <a:ext cx="1064525" cy="1027017"/>
          </a:xfrm>
          <a:prstGeom prst="rect">
            <a:avLst/>
          </a:prstGeom>
        </p:spPr>
      </p:pic>
      <p:sp>
        <p:nvSpPr>
          <p:cNvPr id="7" name="Rectángulo 6">
            <a:extLst>
              <a:ext uri="{FF2B5EF4-FFF2-40B4-BE49-F238E27FC236}">
                <a16:creationId xmlns:a16="http://schemas.microsoft.com/office/drawing/2014/main" id="{B8675EC1-2D45-C4DA-9363-8CFA657C2173}"/>
              </a:ext>
            </a:extLst>
          </p:cNvPr>
          <p:cNvSpPr/>
          <p:nvPr/>
        </p:nvSpPr>
        <p:spPr>
          <a:xfrm>
            <a:off x="300252" y="1101706"/>
            <a:ext cx="6628264" cy="892552"/>
          </a:xfrm>
          <a:prstGeom prst="rect">
            <a:avLst/>
          </a:prstGeom>
        </p:spPr>
        <p:txBody>
          <a:bodyPr wrap="square">
            <a:spAutoFit/>
          </a:bodyPr>
          <a:lstStyle/>
          <a:p>
            <a:r>
              <a:rPr lang="es-MX" sz="2400" dirty="0"/>
              <a:t>ESTADISTICAS DESCRIPTIVAS:</a:t>
            </a:r>
          </a:p>
          <a:p>
            <a:endParaRPr lang="es-CO" sz="2800" dirty="0"/>
          </a:p>
        </p:txBody>
      </p:sp>
      <p:cxnSp>
        <p:nvCxnSpPr>
          <p:cNvPr id="8" name="Conector recto 7">
            <a:extLst>
              <a:ext uri="{FF2B5EF4-FFF2-40B4-BE49-F238E27FC236}">
                <a16:creationId xmlns:a16="http://schemas.microsoft.com/office/drawing/2014/main" id="{0A0AA403-5594-D423-385B-CD4195632733}"/>
              </a:ext>
            </a:extLst>
          </p:cNvPr>
          <p:cNvCxnSpPr/>
          <p:nvPr/>
        </p:nvCxnSpPr>
        <p:spPr>
          <a:xfrm>
            <a:off x="375708" y="1714500"/>
            <a:ext cx="589583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A1CCA8A6-C368-6B40-E9C9-795B0EB7EF05}"/>
              </a:ext>
            </a:extLst>
          </p:cNvPr>
          <p:cNvSpPr txBox="1"/>
          <p:nvPr/>
        </p:nvSpPr>
        <p:spPr>
          <a:xfrm>
            <a:off x="4161034" y="1714500"/>
            <a:ext cx="3955550" cy="1938992"/>
          </a:xfrm>
          <a:prstGeom prst="rect">
            <a:avLst/>
          </a:prstGeom>
          <a:noFill/>
        </p:spPr>
        <p:txBody>
          <a:bodyPr wrap="square" rtlCol="0">
            <a:spAutoFit/>
          </a:bodyPr>
          <a:lstStyle/>
          <a:p>
            <a:r>
              <a:rPr lang="es-MX" sz="2000" b="1" dirty="0">
                <a:latin typeface="Arial Narrow" panose="020B0606020202030204" pitchFamily="34" charset="0"/>
              </a:rPr>
              <a:t>2. ¿Para qué tipo de clientes está pensada la marca?</a:t>
            </a:r>
            <a:br>
              <a:rPr lang="es-MX" sz="2000" dirty="0">
                <a:latin typeface="Arial Narrow" panose="020B0606020202030204" pitchFamily="34" charset="0"/>
              </a:rPr>
            </a:br>
            <a:r>
              <a:rPr lang="es-MX" sz="2000" dirty="0">
                <a:latin typeface="Arial Narrow" panose="020B0606020202030204" pitchFamily="34" charset="0"/>
              </a:rPr>
              <a:t>La marca está pensada para niños de todas las edades, ofreciendo prendas accesibles y adecuadas para diferentes necesidades.</a:t>
            </a:r>
            <a:endParaRPr lang="es-CO" sz="2000" dirty="0">
              <a:latin typeface="Arial Narrow" panose="020B0606020202030204" pitchFamily="34" charset="0"/>
            </a:endParaRPr>
          </a:p>
        </p:txBody>
      </p:sp>
      <p:sp>
        <p:nvSpPr>
          <p:cNvPr id="10" name="CuadroTexto 9">
            <a:extLst>
              <a:ext uri="{FF2B5EF4-FFF2-40B4-BE49-F238E27FC236}">
                <a16:creationId xmlns:a16="http://schemas.microsoft.com/office/drawing/2014/main" id="{F0F84EE5-5945-6867-A361-17F214A65E0C}"/>
              </a:ext>
            </a:extLst>
          </p:cNvPr>
          <p:cNvSpPr txBox="1"/>
          <p:nvPr/>
        </p:nvSpPr>
        <p:spPr>
          <a:xfrm>
            <a:off x="8116584" y="1603342"/>
            <a:ext cx="3230633" cy="2246769"/>
          </a:xfrm>
          <a:prstGeom prst="rect">
            <a:avLst/>
          </a:prstGeom>
          <a:noFill/>
        </p:spPr>
        <p:txBody>
          <a:bodyPr wrap="square" rtlCol="0">
            <a:spAutoFit/>
          </a:bodyPr>
          <a:lstStyle/>
          <a:p>
            <a:r>
              <a:rPr lang="es-MX" sz="2000" b="1" dirty="0">
                <a:latin typeface="Arial Narrow" panose="020B0606020202030204" pitchFamily="34" charset="0"/>
              </a:rPr>
              <a:t>3. ¿Qué comentarios o necesidades expresan los padres al comprar?</a:t>
            </a:r>
            <a:br>
              <a:rPr lang="es-MX" sz="2000" dirty="0">
                <a:latin typeface="Arial Narrow" panose="020B0606020202030204" pitchFamily="34" charset="0"/>
              </a:rPr>
            </a:br>
            <a:r>
              <a:rPr lang="es-MX" sz="2000" dirty="0">
                <a:latin typeface="Arial Narrow" panose="020B0606020202030204" pitchFamily="34" charset="0"/>
              </a:rPr>
              <a:t>Los padres buscan principalmente que las prendas sean cómodas, resistentes y de buena calidad para sus hijos.</a:t>
            </a:r>
            <a:endParaRPr lang="es-CO" sz="2000" dirty="0">
              <a:latin typeface="Arial Narrow" panose="020B0606020202030204" pitchFamily="34" charset="0"/>
            </a:endParaRPr>
          </a:p>
        </p:txBody>
      </p:sp>
      <p:sp>
        <p:nvSpPr>
          <p:cNvPr id="11" name="CuadroTexto 10">
            <a:extLst>
              <a:ext uri="{FF2B5EF4-FFF2-40B4-BE49-F238E27FC236}">
                <a16:creationId xmlns:a16="http://schemas.microsoft.com/office/drawing/2014/main" id="{55FFF922-50E7-39D4-89C1-AE0F673BEBCD}"/>
              </a:ext>
            </a:extLst>
          </p:cNvPr>
          <p:cNvSpPr txBox="1"/>
          <p:nvPr/>
        </p:nvSpPr>
        <p:spPr>
          <a:xfrm>
            <a:off x="123290" y="4271582"/>
            <a:ext cx="3657599" cy="2246769"/>
          </a:xfrm>
          <a:prstGeom prst="rect">
            <a:avLst/>
          </a:prstGeom>
          <a:noFill/>
        </p:spPr>
        <p:txBody>
          <a:bodyPr wrap="square" rtlCol="0">
            <a:spAutoFit/>
          </a:bodyPr>
          <a:lstStyle/>
          <a:p>
            <a:r>
              <a:rPr lang="es-MX" sz="2000" b="1" dirty="0"/>
              <a:t>4. ¿Qué estrategias utilizan para atraer nuevos clientes?</a:t>
            </a:r>
            <a:br>
              <a:rPr lang="es-MX" sz="2000" dirty="0"/>
            </a:br>
            <a:r>
              <a:rPr lang="es-MX" sz="2000" dirty="0"/>
              <a:t>Desarrollamos diseños innovadores que se </a:t>
            </a:r>
            <a:r>
              <a:rPr lang="es-MX" sz="2000" dirty="0">
                <a:latin typeface="Arial" panose="020B0604020202020204" pitchFamily="34" charset="0"/>
                <a:cs typeface="Arial" panose="020B0604020202020204" pitchFamily="34" charset="0"/>
              </a:rPr>
              <a:t>adaptan</a:t>
            </a:r>
            <a:r>
              <a:rPr lang="es-MX" sz="2000" dirty="0"/>
              <a:t> a distintos climas y estilos, </a:t>
            </a:r>
            <a:r>
              <a:rPr lang="es-MX" sz="2000" dirty="0">
                <a:latin typeface="Arial" panose="020B0604020202020204" pitchFamily="34" charset="0"/>
                <a:cs typeface="Arial" panose="020B0604020202020204" pitchFamily="34" charset="0"/>
              </a:rPr>
              <a:t>manteniéndonos</a:t>
            </a:r>
            <a:r>
              <a:rPr lang="es-MX" sz="2000" dirty="0"/>
              <a:t> actualizados con las tendencias.</a:t>
            </a:r>
            <a:endParaRPr lang="es-CO" sz="2000" dirty="0"/>
          </a:p>
        </p:txBody>
      </p:sp>
      <p:sp>
        <p:nvSpPr>
          <p:cNvPr id="12" name="CuadroTexto 11">
            <a:extLst>
              <a:ext uri="{FF2B5EF4-FFF2-40B4-BE49-F238E27FC236}">
                <a16:creationId xmlns:a16="http://schemas.microsoft.com/office/drawing/2014/main" id="{99725904-0F41-3045-030C-2CF9AC35805F}"/>
              </a:ext>
            </a:extLst>
          </p:cNvPr>
          <p:cNvSpPr txBox="1"/>
          <p:nvPr/>
        </p:nvSpPr>
        <p:spPr>
          <a:xfrm>
            <a:off x="4161034" y="4120925"/>
            <a:ext cx="3662536" cy="1938992"/>
          </a:xfrm>
          <a:prstGeom prst="rect">
            <a:avLst/>
          </a:prstGeom>
          <a:noFill/>
        </p:spPr>
        <p:txBody>
          <a:bodyPr wrap="square" rtlCol="0">
            <a:spAutoFit/>
          </a:bodyPr>
          <a:lstStyle/>
          <a:p>
            <a:r>
              <a:rPr lang="es-MX" sz="2000" b="1" dirty="0">
                <a:latin typeface="Arial Narrow" panose="020B0606020202030204" pitchFamily="34" charset="0"/>
              </a:rPr>
              <a:t>5. ¿Qué buscan garantizar en cada compra?</a:t>
            </a:r>
            <a:br>
              <a:rPr lang="es-MX" sz="2000" dirty="0">
                <a:latin typeface="Arial Narrow" panose="020B0606020202030204" pitchFamily="34" charset="0"/>
              </a:rPr>
            </a:br>
            <a:r>
              <a:rPr lang="es-MX" sz="2000" dirty="0">
                <a:latin typeface="Arial Narrow" panose="020B0606020202030204" pitchFamily="34" charset="0"/>
              </a:rPr>
              <a:t>Garantizamos prendas de alta calidad a precios económicos, asegurando satisfacción y confianza en nuestros clientes.</a:t>
            </a:r>
            <a:endParaRPr lang="es-CO" sz="2000" dirty="0">
              <a:latin typeface="Arial Narrow" panose="020B0606020202030204" pitchFamily="34" charset="0"/>
            </a:endParaRPr>
          </a:p>
        </p:txBody>
      </p:sp>
      <p:sp>
        <p:nvSpPr>
          <p:cNvPr id="13" name="CuadroTexto 12">
            <a:extLst>
              <a:ext uri="{FF2B5EF4-FFF2-40B4-BE49-F238E27FC236}">
                <a16:creationId xmlns:a16="http://schemas.microsoft.com/office/drawing/2014/main" id="{B3E9BE2E-7BC4-58F8-1761-E8EB1D7E20E2}"/>
              </a:ext>
            </a:extLst>
          </p:cNvPr>
          <p:cNvSpPr txBox="1"/>
          <p:nvPr/>
        </p:nvSpPr>
        <p:spPr>
          <a:xfrm>
            <a:off x="8203715" y="4134340"/>
            <a:ext cx="3356367" cy="2554545"/>
          </a:xfrm>
          <a:prstGeom prst="rect">
            <a:avLst/>
          </a:prstGeom>
          <a:noFill/>
        </p:spPr>
        <p:txBody>
          <a:bodyPr wrap="square" rtlCol="0">
            <a:spAutoFit/>
          </a:bodyPr>
          <a:lstStyle/>
          <a:p>
            <a:r>
              <a:rPr lang="es-MX" sz="2000" b="1" dirty="0">
                <a:latin typeface="Arial Narrow" panose="020B0606020202030204" pitchFamily="34" charset="0"/>
              </a:rPr>
              <a:t>6. ¿Qué aspectos consideran más importantes para una buena atención al cliente?</a:t>
            </a:r>
            <a:br>
              <a:rPr lang="es-MX" sz="2000" dirty="0">
                <a:latin typeface="Arial Narrow" panose="020B0606020202030204" pitchFamily="34" charset="0"/>
              </a:rPr>
            </a:br>
            <a:r>
              <a:rPr lang="es-MX" sz="2000" dirty="0">
                <a:latin typeface="Arial Narrow" panose="020B0606020202030204" pitchFamily="34" charset="0"/>
              </a:rPr>
              <a:t>Brindar una atención humana, respetuosa y personalizada, entendiendo las necesidades del cliente para que se sienta seguro y satisfecho con su compra</a:t>
            </a:r>
            <a:endParaRPr lang="es-CO" sz="2000" dirty="0">
              <a:latin typeface="Arial Narrow" panose="020B0606020202030204" pitchFamily="34" charset="0"/>
            </a:endParaRPr>
          </a:p>
        </p:txBody>
      </p:sp>
    </p:spTree>
    <p:extLst>
      <p:ext uri="{BB962C8B-B14F-4D97-AF65-F5344CB8AC3E}">
        <p14:creationId xmlns:p14="http://schemas.microsoft.com/office/powerpoint/2010/main" val="502044313"/>
      </p:ext>
    </p:extLst>
  </p:cSld>
  <p:clrMapOvr>
    <a:masterClrMapping/>
  </p:clrMapOvr>
</p:sld>
</file>

<file path=ppt/theme/theme1.xml><?xml version="1.0" encoding="utf-8"?>
<a:theme xmlns:a="http://schemas.openxmlformats.org/drawingml/2006/main" name="Faceta">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1483</TotalTime>
  <Words>675</Words>
  <Application>Microsoft Office PowerPoint</Application>
  <PresentationFormat>Panorámica</PresentationFormat>
  <Paragraphs>45</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Arial Narrow</vt:lpstr>
      <vt:lpstr>Calibri Light (Títulos)</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vt:lpstr>
      <vt:lpstr>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Julian Andres</dc:creator>
  <cp:lastModifiedBy>Darwin Fabian</cp:lastModifiedBy>
  <cp:revision>35</cp:revision>
  <dcterms:created xsi:type="dcterms:W3CDTF">2025-08-01T18:17:32Z</dcterms:created>
  <dcterms:modified xsi:type="dcterms:W3CDTF">2026-04-14T00:55:30Z</dcterms:modified>
</cp:coreProperties>
</file>